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  <p:sldId id="266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Arial Black" panose="020B0A04020102020204" pitchFamily="34" charset="0"/>
      <p:bold r:id="rId14"/>
    </p:embeddedFon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Bahnschrift" panose="020B0502040204020203" pitchFamily="34" charset="0"/>
      <p:regular r:id="rId19"/>
      <p:bold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icrosoft Himalaya" panose="01010100010101010101" pitchFamily="2" charset="0"/>
      <p:regular r:id="rId25"/>
    </p:embeddedFont>
    <p:embeddedFont>
      <p:font typeface="Montserrat Light" panose="00000400000000000000" pitchFamily="2" charset="0"/>
      <p:regular r:id="rId26"/>
      <p:italic r:id="rId27"/>
    </p:embeddedFont>
    <p:embeddedFont>
      <p:font typeface="Source Sans 3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3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633543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Event Management &amp; Booking Platform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50198" y="4134803"/>
            <a:ext cx="495514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Microservices-Based Architecture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0198" y="4855607"/>
            <a:ext cx="7416403" cy="1801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	Pranav Ozarde (322046) 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	Sarthak Kad (322021)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	Shivraj Phatangare (322020)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	Abhishek Gaikwad (322025)</a:t>
            </a:r>
            <a:endParaRPr lang="en-US" sz="1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E921B-2184-38EE-115A-AA1294643372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0703" y="681871"/>
            <a:ext cx="5589032" cy="698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Introduction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03" y="2364700"/>
            <a:ext cx="8180903" cy="456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9063" y="1992749"/>
            <a:ext cx="4128254" cy="698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Full-Stack Microservices System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49063" y="2936081"/>
            <a:ext cx="4128254" cy="11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scalable platform managing users, events, and bookings through modular service architecture.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649063" y="4260652"/>
            <a:ext cx="4128254" cy="320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with Next.js frontend and Flask backend</a:t>
            </a:r>
            <a:endParaRPr lang="en-US" sz="19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scalability and clean separation of concerns</a:t>
            </a:r>
            <a:endParaRPr lang="en-US" sz="19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RESTful API communication between services</a:t>
            </a:r>
            <a:endParaRPr lang="en-US" sz="19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Stateless service design for horizontal scaling</a:t>
            </a:r>
            <a:endParaRPr lang="en-US" sz="1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AD52AB-8068-D66A-FF4A-B55D4E5CDFA1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084" y="678418"/>
            <a:ext cx="5604510" cy="7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084" y="1871543"/>
            <a:ext cx="6328886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4" name="Shape 2"/>
          <p:cNvSpPr/>
          <p:nvPr/>
        </p:nvSpPr>
        <p:spPr>
          <a:xfrm>
            <a:off x="1109663" y="2118122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3021" y="2321481"/>
            <a:ext cx="332899" cy="3328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663" y="3104198"/>
            <a:ext cx="431970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Reduce Manual Management</a:t>
            </a:r>
            <a:endParaRPr lang="en-US" sz="22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09663" y="3602236"/>
            <a:ext cx="5835729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 paper-based event and booking tracking through digital automation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8311" y="1871543"/>
            <a:ext cx="6329005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Shape 6"/>
          <p:cNvSpPr/>
          <p:nvPr/>
        </p:nvSpPr>
        <p:spPr>
          <a:xfrm>
            <a:off x="7684889" y="2118122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8248" y="2321481"/>
            <a:ext cx="332899" cy="3328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4889" y="3104198"/>
            <a:ext cx="3154323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Scalable Architecture</a:t>
            </a:r>
            <a:endParaRPr lang="en-US" sz="22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84889" y="3602236"/>
            <a:ext cx="5835848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infrastructure that scales horizontally with growing user demand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63084" y="4834533"/>
            <a:ext cx="6328886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14" name="Shape 10"/>
          <p:cNvSpPr/>
          <p:nvPr/>
        </p:nvSpPr>
        <p:spPr>
          <a:xfrm>
            <a:off x="1109663" y="5081111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3021" y="5284470"/>
            <a:ext cx="332899" cy="3328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9663" y="6067187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Enhanced UX</a:t>
            </a:r>
            <a:endParaRPr lang="en-US" sz="22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109663" y="6565225"/>
            <a:ext cx="5835729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intuitive interface for seamless event discovery and booking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7438311" y="4834533"/>
            <a:ext cx="6329005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84889" y="5081111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88248" y="5284470"/>
            <a:ext cx="332899" cy="3328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4889" y="6067187"/>
            <a:ext cx="401740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Demonstrate Microservices</a:t>
            </a:r>
            <a:endParaRPr lang="en-US" sz="22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84889" y="6565225"/>
            <a:ext cx="5835848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Showcase modular, independently deployable service architecture</a:t>
            </a:r>
            <a:endParaRPr lang="en-US" sz="1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92619B-204A-66F0-1B6E-96B2FD6417E6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3543" y="852368"/>
            <a:ext cx="4088011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73543" y="1690926"/>
            <a:ext cx="2452807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ahnschrift" panose="020B0502040204020203" pitchFamily="34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Frontend Stack</a:t>
            </a:r>
            <a:endParaRPr lang="en-US" sz="1900" dirty="0">
              <a:latin typeface="Bahnschrift" panose="020B0502040204020203" pitchFamily="34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3543" y="2167414"/>
            <a:ext cx="179784" cy="179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3543" y="2427684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673543" y="2563297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Next.js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73543" y="2949773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framework with server-side rendering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3543" y="3471386"/>
            <a:ext cx="179784" cy="1797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73543" y="3731657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673543" y="3867269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React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673543" y="4253746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Component-based UI architecture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73543" y="4775359"/>
            <a:ext cx="179784" cy="179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673543" y="5035629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1673543" y="5171242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TypeScript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673543" y="5557718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Static typing for code quality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73543" y="6079331"/>
            <a:ext cx="179784" cy="1797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673543" y="6339602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2"/>
          <p:cNvSpPr/>
          <p:nvPr/>
        </p:nvSpPr>
        <p:spPr>
          <a:xfrm>
            <a:off x="1673543" y="6475214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Tailwind CSS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673543" y="6861691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Utility-first styling approach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542133" y="1690926"/>
            <a:ext cx="2452807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ahnschrift" panose="020B0502040204020203" pitchFamily="34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Backend Stack</a:t>
            </a:r>
            <a:endParaRPr lang="en-US" sz="1900" dirty="0">
              <a:latin typeface="Bahnschrift" panose="020B0502040204020203" pitchFamily="34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2133" y="2167414"/>
            <a:ext cx="179784" cy="17978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542133" y="2427684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6"/>
          <p:cNvSpPr/>
          <p:nvPr/>
        </p:nvSpPr>
        <p:spPr>
          <a:xfrm>
            <a:off x="7542133" y="2563297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Python Flask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542133" y="2949773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Microservices framework for backend</a:t>
            </a:r>
            <a:endParaRPr lang="en-US" sz="14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42133" y="3471386"/>
            <a:ext cx="179784" cy="17978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542133" y="3731657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19"/>
          <p:cNvSpPr/>
          <p:nvPr/>
        </p:nvSpPr>
        <p:spPr>
          <a:xfrm>
            <a:off x="7542133" y="3867269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RESTful APIs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542133" y="4253746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HTTP-based service communication</a:t>
            </a:r>
            <a:endParaRPr lang="en-US" sz="14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2133" y="4775359"/>
            <a:ext cx="179784" cy="17978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7542133" y="5035629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2"/>
          <p:cNvSpPr/>
          <p:nvPr/>
        </p:nvSpPr>
        <p:spPr>
          <a:xfrm>
            <a:off x="7542133" y="5171242"/>
            <a:ext cx="204394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Axios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7542133" y="5557718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 client for API requests</a:t>
            </a:r>
            <a:endParaRPr lang="en-US" sz="14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42133" y="6079331"/>
            <a:ext cx="179784" cy="179784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542133" y="6339602"/>
            <a:ext cx="542210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5"/>
          <p:cNvSpPr/>
          <p:nvPr/>
        </p:nvSpPr>
        <p:spPr>
          <a:xfrm>
            <a:off x="7542133" y="6475214"/>
            <a:ext cx="2056686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In-Memory Storage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542133" y="6861691"/>
            <a:ext cx="5422106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Prototype data persistence layer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9D8EE5-7735-AD0C-4DF6-60078F695859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210" y="597218"/>
            <a:ext cx="4635460" cy="5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Workflow Process</a:t>
            </a:r>
            <a:endParaRPr lang="en-US" sz="3650" dirty="0">
              <a:latin typeface="Arial Black" panose="020B0A040201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" y="1513642"/>
            <a:ext cx="1019770" cy="1223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6454" y="1717596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User Interaction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06454" y="2108359"/>
            <a:ext cx="1160573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performs action on dashboard or booking interface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10" y="2737366"/>
            <a:ext cx="1019770" cy="1223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6454" y="2941320"/>
            <a:ext cx="2522815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Frontend Processing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106454" y="3332083"/>
            <a:ext cx="1160573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 frontend validates input and determines required API calls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" y="3961090"/>
            <a:ext cx="1019770" cy="12237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06454" y="4165044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API Requests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106454" y="4555808"/>
            <a:ext cx="1160573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Axios sends HTTP requests to appropriate microservice endpoints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" y="5184815"/>
            <a:ext cx="1019770" cy="12237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06454" y="5388769"/>
            <a:ext cx="231767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Service Processing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106454" y="5779532"/>
            <a:ext cx="1160573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Bahnschrift" panose="020B0502040204020203" pitchFamily="34" charset="0"/>
                <a:ea typeface="Source Sans 3" pitchFamily="34" charset="-122"/>
                <a:cs typeface="Source Sans 3" pitchFamily="34" charset="-120"/>
              </a:rPr>
              <a:t>Flask services handle business logic and data operations</a:t>
            </a:r>
            <a:endParaRPr lang="en-US" sz="1600" dirty="0">
              <a:latin typeface="Bahnschrift" panose="020B0502040204020203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" y="6408539"/>
            <a:ext cx="1019770" cy="12237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06454" y="6612493"/>
            <a:ext cx="2360295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Response Handling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2106454" y="7003256"/>
            <a:ext cx="11605736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returned and UI state updated with fresh information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6B222B-B5F5-6F33-ADE0-A0BF8293FC9B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3015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Core Features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425065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318" y="2425065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2535" y="2702362"/>
            <a:ext cx="304288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Dashboard Analytics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2535" y="3200995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metrics display with recent bookings overview and system statistics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6965" y="2425065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485" y="2425065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15702" y="2702362"/>
            <a:ext cx="289202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Event Management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15702" y="3200995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CRUD operations for creating, reading, updating, and deleting events with details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425065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9652" y="2425065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8869" y="2702362"/>
            <a:ext cx="329017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Booking Management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98869" y="3200995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Create, modify, and cancel bookings with automatic availability checking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4835604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318" y="4835604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32535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User Management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2535" y="5611535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profile management and role-based access control implementation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46965" y="4835604"/>
            <a:ext cx="4136350" cy="2163723"/>
          </a:xfrm>
          <a:prstGeom prst="roundRect">
            <a:avLst>
              <a:gd name="adj" fmla="val 6762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6485" y="4835604"/>
            <a:ext cx="121920" cy="2163723"/>
          </a:xfrm>
          <a:prstGeom prst="roundRect">
            <a:avLst>
              <a:gd name="adj" fmla="val 3036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15702" y="511290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Local Caching</a:t>
            </a:r>
            <a:endParaRPr lang="en-US" sz="2200" dirty="0">
              <a:latin typeface="Bahnschrif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15702" y="5611535"/>
            <a:ext cx="34903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Client-side data persistence using localStorage for improved performance</a:t>
            </a:r>
            <a:endParaRPr lang="en-US" sz="1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120E2F-5719-CC63-BD0A-31C477C6B458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0E82E84-7A95-4012-48EF-FBEF970C3CEF}"/>
              </a:ext>
            </a:extLst>
          </p:cNvPr>
          <p:cNvSpPr/>
          <p:nvPr/>
        </p:nvSpPr>
        <p:spPr>
          <a:xfrm>
            <a:off x="9367610" y="764913"/>
            <a:ext cx="2333016" cy="232773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EDA219-4449-2555-EFF7-A99AA37C8466}"/>
              </a:ext>
            </a:extLst>
          </p:cNvPr>
          <p:cNvSpPr/>
          <p:nvPr/>
        </p:nvSpPr>
        <p:spPr>
          <a:xfrm>
            <a:off x="9387845" y="3177786"/>
            <a:ext cx="2312781" cy="219764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874228-BEE7-A721-B7D8-9CDCF636B9EE}"/>
              </a:ext>
            </a:extLst>
          </p:cNvPr>
          <p:cNvSpPr/>
          <p:nvPr/>
        </p:nvSpPr>
        <p:spPr>
          <a:xfrm>
            <a:off x="1953306" y="2627071"/>
            <a:ext cx="2628002" cy="259011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0"/>
          <p:cNvSpPr/>
          <p:nvPr/>
        </p:nvSpPr>
        <p:spPr>
          <a:xfrm>
            <a:off x="1571030" y="522803"/>
            <a:ext cx="4465082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325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37513" y="3394136"/>
            <a:ext cx="2059588" cy="2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Next.js Frontend</a:t>
            </a:r>
            <a:endParaRPr lang="en-US" sz="1850" dirty="0">
              <a:latin typeface="Bahnschrif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37513" y="3891927"/>
            <a:ext cx="2059588" cy="67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Orchestrates API calls to backend Flask services.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427704" y="1440204"/>
            <a:ext cx="2059589" cy="2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User Service</a:t>
            </a:r>
            <a:endParaRPr lang="en-US" sz="1850" dirty="0">
              <a:latin typeface="Bahnschrif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04323" y="1819005"/>
            <a:ext cx="2059589" cy="450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/api/users and user-related requests.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14441" y="3814174"/>
            <a:ext cx="2059588" cy="2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Event Service</a:t>
            </a:r>
            <a:endParaRPr lang="en-US" sz="1850" dirty="0">
              <a:latin typeface="Bahnschrif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14441" y="4243335"/>
            <a:ext cx="2059588" cy="450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/api/events and event data flows.</a:t>
            </a:r>
            <a:endParaRPr lang="en-US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A1A423-B869-6A6D-D30A-27386301C742}"/>
              </a:ext>
            </a:extLst>
          </p:cNvPr>
          <p:cNvSpPr/>
          <p:nvPr/>
        </p:nvSpPr>
        <p:spPr>
          <a:xfrm>
            <a:off x="9514441" y="5460569"/>
            <a:ext cx="2312781" cy="216263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41036" y="6058023"/>
            <a:ext cx="2059589" cy="2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Booking Service</a:t>
            </a:r>
            <a:endParaRPr lang="en-US" sz="1850" dirty="0">
              <a:latin typeface="Bahnschrift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641037" y="6526406"/>
            <a:ext cx="2059589" cy="67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/api/bookings and booking transactions.</a:t>
            </a:r>
            <a:endParaRPr lang="en-US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28B9AC-F3D3-44AF-10E4-715C909CDEE6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 flipV="1">
            <a:off x="4581308" y="1928781"/>
            <a:ext cx="4786302" cy="1993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F8484C-0FDA-E75E-0215-7588DC65D571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4581308" y="3922130"/>
            <a:ext cx="4806537" cy="354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A5E380-51F5-8CF1-0084-2F04209AFF9B}"/>
              </a:ext>
            </a:extLst>
          </p:cNvPr>
          <p:cNvCxnSpPr>
            <a:stCxn id="12" idx="6"/>
            <a:endCxn id="15" idx="2"/>
          </p:cNvCxnSpPr>
          <p:nvPr/>
        </p:nvCxnSpPr>
        <p:spPr>
          <a:xfrm>
            <a:off x="4581308" y="3922130"/>
            <a:ext cx="4933133" cy="261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694B8-C6BB-77B8-ECEE-771E3A0CB266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A50D5D5-E9ED-8ABE-FBB1-282DE716D304}"/>
              </a:ext>
            </a:extLst>
          </p:cNvPr>
          <p:cNvSpPr/>
          <p:nvPr/>
        </p:nvSpPr>
        <p:spPr>
          <a:xfrm>
            <a:off x="3434576" y="0"/>
            <a:ext cx="8095785" cy="1516566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C970E-45B0-D605-728B-72E254125505}"/>
              </a:ext>
            </a:extLst>
          </p:cNvPr>
          <p:cNvSpPr txBox="1"/>
          <p:nvPr/>
        </p:nvSpPr>
        <p:spPr>
          <a:xfrm>
            <a:off x="3891776" y="373562"/>
            <a:ext cx="100807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Arial Black" panose="020B0A04020102020204" pitchFamily="34" charset="0"/>
              </a:rPr>
              <a:t>Microservices Developed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547BD-F450-0496-5535-6933C5B3B5F0}"/>
              </a:ext>
            </a:extLst>
          </p:cNvPr>
          <p:cNvSpPr/>
          <p:nvPr/>
        </p:nvSpPr>
        <p:spPr>
          <a:xfrm>
            <a:off x="657922" y="1639229"/>
            <a:ext cx="3679902" cy="576518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Service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managing user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all users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user by ID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5000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API: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/users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/users/{id}</a:t>
            </a:r>
          </a:p>
          <a:p>
            <a:endParaRPr lang="en-IN" dirty="0"/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C1FC9-CF50-3406-AA4D-DABEDED5F736}"/>
              </a:ext>
            </a:extLst>
          </p:cNvPr>
          <p:cNvSpPr/>
          <p:nvPr/>
        </p:nvSpPr>
        <p:spPr>
          <a:xfrm>
            <a:off x="5564459" y="1639229"/>
            <a:ext cx="3679902" cy="576518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2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Events Service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managing Events data.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Events list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Event by ID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5001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API: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/Event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/Events/{id}</a:t>
            </a:r>
          </a:p>
          <a:p>
            <a:endParaRPr lang="en-IN" dirty="0"/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660EF-B16D-D6CD-3546-30D97EAD4DE7}"/>
              </a:ext>
            </a:extLst>
          </p:cNvPr>
          <p:cNvSpPr/>
          <p:nvPr/>
        </p:nvSpPr>
        <p:spPr>
          <a:xfrm>
            <a:off x="10292576" y="1639229"/>
            <a:ext cx="3679902" cy="57651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Booking Service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creating and managing Bookings.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Booking and fetch Booking history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User and Event services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on: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5002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API: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/bookings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/bookings</a:t>
            </a:r>
          </a:p>
          <a:p>
            <a:endParaRPr lang="en-IN" sz="2400" dirty="0"/>
          </a:p>
          <a:p>
            <a:pPr algn="ctr"/>
            <a:endParaRPr lang="en-IN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9B5D4C-1763-E126-11A4-92035AF0010E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051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8151" y="644545"/>
            <a:ext cx="4795123" cy="53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Output / Screenshots</a:t>
            </a:r>
            <a:endParaRPr lang="en-US" sz="335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98151" y="1890236"/>
            <a:ext cx="69163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782407" y="1904643"/>
            <a:ext cx="214383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Dashboard</a:t>
            </a:r>
            <a:endParaRPr lang="en-US" sz="1650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782407" y="2316837"/>
            <a:ext cx="4457462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data updates with live metrics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Recent bookings overview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statistics and analytics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782407" y="3310771"/>
            <a:ext cx="214383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Events Page</a:t>
            </a:r>
            <a:endParaRPr lang="en-US" sz="1650" dirty="0">
              <a:latin typeface="Bahnschrif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82407" y="3722965"/>
            <a:ext cx="4457462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 listing with details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Create/edit event functionality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 filtering and search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782407" y="4716899"/>
            <a:ext cx="2143839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Booking Page</a:t>
            </a:r>
            <a:endParaRPr lang="en-US" sz="1650" dirty="0">
              <a:latin typeface="Bahnschrif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82407" y="5129093"/>
            <a:ext cx="4457462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 form interface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Availability checking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 confirmation display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81043" y="6321147"/>
            <a:ext cx="11551206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CRUD operations across all services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microservices integration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synchronization between frontend and backend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398151" y="6191369"/>
            <a:ext cx="22860" cy="102989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D3570D-C47A-082A-2D57-5E3486395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4" y="1542938"/>
            <a:ext cx="3797881" cy="1986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E99881-222B-94DD-7CF5-F67D0E57D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333" y="1501850"/>
            <a:ext cx="3797881" cy="20158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E8E2DA-BB72-FC1B-D69D-852BB08BE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13" y="3794393"/>
            <a:ext cx="3797881" cy="20158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511B19-84C4-D6BD-5AD6-5FD837335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333" y="3762142"/>
            <a:ext cx="3824360" cy="204814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1A55820-3BCD-A4D3-F57B-5C15CBD3591F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2170" y="1144072"/>
            <a:ext cx="4617244" cy="47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Deployment (AWS EC2)</a:t>
            </a:r>
            <a:endParaRPr lang="en-US" sz="2950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22170" y="1892022"/>
            <a:ext cx="268390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Deployment Workflow</a:t>
            </a:r>
            <a:endParaRPr lang="en-US" sz="1750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22170" y="2299097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22170" y="2557582"/>
            <a:ext cx="2871549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122170" y="2686050"/>
            <a:ext cx="205549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Launch EC2 Instance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122170" y="3032165"/>
            <a:ext cx="2871549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Provision an AWS EC2 instance with the specified operating system and instance type.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04686" y="2299097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04686" y="2557582"/>
            <a:ext cx="2871668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104686" y="2686050"/>
            <a:ext cx="259401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Configure Security Groups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04686" y="3032165"/>
            <a:ext cx="2871668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Establish inbound rules to allow traffic on SSH (port 22) and all designated service ports.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22170" y="3889891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22170" y="4148376"/>
            <a:ext cx="2871549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22170" y="4276844"/>
            <a:ext cx="188154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Upload Project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22170" y="4622959"/>
            <a:ext cx="2871549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Transfer the entire codebase, including frontend and backend repositories, to the instance.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4686" y="3889891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04686" y="4148376"/>
            <a:ext cx="2871668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04686" y="4276844"/>
            <a:ext cx="207121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Install Dependencies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04686" y="4622959"/>
            <a:ext cx="2871668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scripts to install required Python libraries and Node.js packages for all services.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22170" y="5480685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22170" y="5739170"/>
            <a:ext cx="2871549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122170" y="5867638"/>
            <a:ext cx="188154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Run Services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22170" y="6213753"/>
            <a:ext cx="2871549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Initiate each Flask microservice and the Next.js frontend, typically using process managers for stability.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4686" y="5480685"/>
            <a:ext cx="165497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04686" y="5739170"/>
            <a:ext cx="2871668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04686" y="5867638"/>
            <a:ext cx="208645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Arial Narrow" panose="020B0606020202030204" pitchFamily="34" charset="0"/>
                <a:ea typeface="Montserrat Bold" pitchFamily="34" charset="-122"/>
                <a:cs typeface="Montserrat Bold" pitchFamily="34" charset="-120"/>
              </a:rPr>
              <a:t>Enable Public Access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4686" y="6213753"/>
            <a:ext cx="2871668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Verify that the application is accessible publicly via the EC2 instance's assigned IP address or DNS.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87834" y="1892022"/>
            <a:ext cx="270855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Instance Configuration</a:t>
            </a:r>
            <a:endParaRPr lang="en-US" sz="1750" dirty="0">
              <a:latin typeface="Bahnschrift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87834" y="2299097"/>
            <a:ext cx="4127897" cy="1165027"/>
          </a:xfrm>
          <a:prstGeom prst="roundRect">
            <a:avLst>
              <a:gd name="adj" fmla="val 2132"/>
            </a:avLst>
          </a:prstGeom>
          <a:solidFill>
            <a:srgbClr val="262626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331" y="2513409"/>
            <a:ext cx="206931" cy="16549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925758" y="2451378"/>
            <a:ext cx="3424476" cy="83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microservices platform is deployed on a lightweight </a:t>
            </a: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t3.micro</a:t>
            </a: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instance running </a:t>
            </a: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Ubuntu OS</a:t>
            </a: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balancing cost-efficiency with necessary computing power for prototyping.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87834" y="3589020"/>
            <a:ext cx="270105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Bahnschrift" panose="020B0502040204020203" pitchFamily="34" charset="0"/>
                <a:ea typeface="Montserrat Bold" pitchFamily="34" charset="-122"/>
                <a:cs typeface="Montserrat Bold" pitchFamily="34" charset="-120"/>
              </a:rPr>
              <a:t>Service Port Allocation</a:t>
            </a:r>
            <a:endParaRPr lang="en-US" sz="1750" dirty="0">
              <a:latin typeface="Bahnschrift" panose="020B0502040204020203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387834" y="3982164"/>
            <a:ext cx="4127897" cy="6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component of the system is exposed on a distinct port, facilitating clear separation and routing within the EC2 environment: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387834" y="4704636"/>
            <a:ext cx="4127897" cy="100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Service: </a:t>
            </a: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3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 Service: </a:t>
            </a: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5001</a:t>
            </a:r>
            <a:endParaRPr lang="en-US" sz="13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Event Service: </a:t>
            </a: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5002</a:t>
            </a:r>
            <a:endParaRPr lang="en-US" sz="13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 (Next.js): </a:t>
            </a: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3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6DAE81-E456-F405-A763-813A6EAFEC24}"/>
              </a:ext>
            </a:extLst>
          </p:cNvPr>
          <p:cNvSpPr/>
          <p:nvPr/>
        </p:nvSpPr>
        <p:spPr>
          <a:xfrm>
            <a:off x="12244038" y="7581684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037" y="1722120"/>
            <a:ext cx="6499860" cy="577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Conclusion &amp; Future Scope</a:t>
            </a:r>
            <a:endParaRPr lang="en-US" sz="36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98037" y="2718316"/>
            <a:ext cx="2310646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Key Achievements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98037" y="3195518"/>
            <a:ext cx="457438" cy="45743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6" name="Text 3"/>
          <p:cNvSpPr/>
          <p:nvPr/>
        </p:nvSpPr>
        <p:spPr>
          <a:xfrm>
            <a:off x="6822877" y="3271718"/>
            <a:ext cx="2987516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Successfully implemented microservices-based system with clear service boundaries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98037" y="4441031"/>
            <a:ext cx="457438" cy="45743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6822877" y="4517231"/>
            <a:ext cx="2987516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Demonstrated scalability through modular, independently deployable services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8037" y="5686544"/>
            <a:ext cx="457438" cy="45743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6822877" y="5762744"/>
            <a:ext cx="2987516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responsive frontend with intuitive user experience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14027" y="2718316"/>
            <a:ext cx="2700457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314027" y="3174563"/>
            <a:ext cx="3612356" cy="223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PostgreSQL/NoSQL database</a:t>
            </a:r>
            <a:endParaRPr lang="en-US" sz="16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JWT-based authentication</a:t>
            </a:r>
            <a:endParaRPr lang="en-US" sz="16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on cloud infrastructure</a:t>
            </a:r>
            <a:endParaRPr lang="en-US" sz="16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comprehensive error handling</a:t>
            </a:r>
            <a:endParaRPr lang="en-US" sz="16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service discovery</a:t>
            </a:r>
            <a:endParaRPr lang="en-US" sz="16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Containerize with Docker and Kubernetes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CC52A-258F-9543-7AD2-C92E16D756D0}"/>
              </a:ext>
            </a:extLst>
          </p:cNvPr>
          <p:cNvSpPr/>
          <p:nvPr/>
        </p:nvSpPr>
        <p:spPr>
          <a:xfrm>
            <a:off x="12120205" y="7635149"/>
            <a:ext cx="2386362" cy="577572"/>
          </a:xfrm>
          <a:prstGeom prst="rect">
            <a:avLst/>
          </a:prstGeom>
          <a:solidFill>
            <a:srgbClr val="111213"/>
          </a:solidFill>
          <a:ln>
            <a:solidFill>
              <a:srgbClr val="1112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781</Words>
  <Application>Microsoft Office PowerPoint</Application>
  <PresentationFormat>Custom</PresentationFormat>
  <Paragraphs>166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Times New Roman</vt:lpstr>
      <vt:lpstr>Arial</vt:lpstr>
      <vt:lpstr>Arial Black</vt:lpstr>
      <vt:lpstr>Consolas</vt:lpstr>
      <vt:lpstr>Montserrat Light</vt:lpstr>
      <vt:lpstr>Bahnschrift</vt:lpstr>
      <vt:lpstr>Microsoft Himalaya</vt:lpstr>
      <vt:lpstr>Source Sans 3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Pranav Ozrade</cp:lastModifiedBy>
  <cp:revision>7</cp:revision>
  <dcterms:created xsi:type="dcterms:W3CDTF">2026-03-26T19:40:20Z</dcterms:created>
  <dcterms:modified xsi:type="dcterms:W3CDTF">2026-03-26T20:10:23Z</dcterms:modified>
</cp:coreProperties>
</file>